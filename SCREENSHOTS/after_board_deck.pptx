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37160"/>
            <a:ext cx="7315200" cy="347472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BOARD BRIEFING DOCUMENT  —  STRICTLY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June 02,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94A3B8"/>
                </a:solidFill>
              </a:rPr>
              <a:t>TEST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E2E8F0"/>
                </a:solidFill>
              </a:rPr>
              <a:t>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6B6D4"/>
                </a:solidFill>
              </a:rPr>
              <a:t>INTELLIGENCE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59152"/>
            <a:ext cx="6583680" cy="1645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468880"/>
            <a:ext cx="6583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4A3B8"/>
                </a:solidFill>
              </a:rPr>
              <a:t>Prepared exclusively for Board of Directors and C-Suite leadership.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79776"/>
            <a:ext cx="6583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4748B"/>
                </a:solidFill>
              </a:rPr>
              <a:t>Strategic decision support only  ·  Not for operational distribution.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0"/>
            <a:ext cx="4572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57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82296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EF4444"/>
                </a:solidFill>
              </a:rPr>
              <a:t>SAR 5.3M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488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4A3B8"/>
                </a:solidFill>
              </a:rPr>
              <a:t>44 employees at elevated risk</a:t>
            </a:r>
            <a:br/>
            <a:r>
              <a:t>× SAR 120,000 conservative</a:t>
            </a:r>
            <a:br/>
            <a:r>
              <a:t>turnover cost  (SHRM methodology)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108960"/>
            <a:ext cx="3931920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COST OF INACTION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5478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59E0B"/>
                </a:solidFill>
              </a:rPr>
              <a:t>SAR 440K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4160520"/>
            <a:ext cx="3931920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5994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0B981"/>
                </a:solidFill>
              </a:rPr>
              <a:t>SAR 1.8M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leadership intervention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6035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4A3B8"/>
                </a:solidFill>
              </a:rPr>
              <a:t>A Financial Decision is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02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2E8F0"/>
                </a:solidFill>
              </a:rPr>
              <a:t>44 employees require board-level attention.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8308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5029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993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F4444"/>
                </a:solidFill>
              </a:rPr>
              <a:t>SAR 5.3M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900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44 at-risk × SAR 120K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20240"/>
            <a:ext cx="2926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993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F97316"/>
                </a:solidFill>
              </a:rPr>
              <a:t>EMPLOYEES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97316"/>
                </a:solidFill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9900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of 200 total workforce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920240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993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10B981"/>
                </a:solidFill>
              </a:rPr>
              <a:t>POTENTIAL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40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0B981"/>
                </a:solidFill>
              </a:rPr>
              <a:t>SAR 1.8M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990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intervention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116128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38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767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E2E8F0"/>
                </a:solidFill>
              </a:rPr>
              <a:t>Engineering and Operations departments concentrate the highest risk, while monthly cost of inaction accumulates at SAR 440K.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11612880" cy="914400"/>
          </a:xfrm>
          <a:prstGeom prst="rect">
            <a:avLst/>
          </a:prstGeom>
          <a:solidFill>
            <a:srgbClr val="04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531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4ADE80"/>
                </a:solidFill>
              </a:rPr>
              <a:t>BOARD RECOMMENDED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DE80"/>
                </a:solidFill>
              </a:rPr>
              <a:t>Authorise an immediate 90-day Workforce Stabilisation Programme.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03 | WHY LEADERSHIP SHOULD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2E8F0"/>
                </a:solidFill>
              </a:rPr>
              <a:t>This is not an HR issue. It is a business continuity issue.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411480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EF4444"/>
                </a:solidFill>
              </a:rPr>
              <a:t>OPERATIONAL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EF4444"/>
                </a:solidFill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146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1">
                <a:solidFill>
                  <a:srgbClr val="64748B"/>
                </a:solidFill>
              </a:rPr>
              <a:t>employees at departure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34640"/>
            <a:ext cx="3474720" cy="731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4A3B8"/>
                </a:solidFill>
              </a:rPr>
              <a:t>Losing 44 employees in critical roles disrupts delivery pipelines, project continuity, and institutional knowledge — both central to digital transformation.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80160"/>
            <a:ext cx="3749039" cy="4114800"/>
          </a:xfrm>
          <a:prstGeom prst="rect">
            <a:avLst/>
          </a:prstGeom>
          <a:solidFill>
            <a:srgbClr val="2A1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28016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F59E0B"/>
                </a:solidFill>
              </a:rPr>
              <a:t>FINANCIAL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175564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59E0B"/>
                </a:solidFill>
              </a:rPr>
              <a:t>SAR 440K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5146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1">
                <a:solidFill>
                  <a:srgbClr val="64748B"/>
                </a:solidFill>
              </a:rPr>
              <a:t>accumulates every month without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19" y="2834640"/>
            <a:ext cx="3474720" cy="731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2926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4A3B8"/>
                </a:solidFill>
              </a:rPr>
              <a:t>Total exposure SAR 5.3M — not counting secondary costs: knowledge transfer, recruitment delays, and productivity lag during onboarding of replacements.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749039" cy="41148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3B82F6"/>
                </a:solidFill>
              </a:rPr>
              <a:t>STRATEGIC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5564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3B82F6"/>
                </a:solidFill>
              </a:rPr>
              <a:t>SAR 1.8M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146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1">
                <a:solidFill>
                  <a:srgbClr val="64748B"/>
                </a:solidFill>
              </a:rPr>
              <a:t>recoverable with board-authorised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834640"/>
            <a:ext cx="3474720" cy="731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926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4A3B8"/>
                </a:solidFill>
              </a:rPr>
              <a:t>Workforce instability impacts Vision 2030 delivery, Saudisation targets, and talent pipeline strength. Board-level action is a governance requirement.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577840"/>
            <a:ext cx="11612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59E0B"/>
                </a:solidFill>
              </a:rPr>
              <a:t>The window for cost-effective intervention is now. Every month of inaction adds SAR 440K to the exposure. With targeted action, SAR 1.8M is recoverable.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04 | WORKFORCE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2E8F0"/>
                </a:solidFill>
              </a:rPr>
              <a:t>22.0% of the workforce requires leadership attention — 44 employees.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4747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WORKFORCE STABILITY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94A3B8"/>
                </a:solidFill>
              </a:rPr>
              <a:t>/ 100  Grade 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F59E0B"/>
                </a:solidFill>
              </a:rPr>
              <a:t>Below threshold — intervention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18872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188720"/>
            <a:ext cx="7955279" cy="8229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18872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7" y="1225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7" y="15179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Workforce in stable retention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2252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</a:rPr>
              <a:t>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6093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</a:rPr>
              <a:t>47.0%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24028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240280"/>
            <a:ext cx="5247098" cy="822960"/>
          </a:xfrm>
          <a:prstGeom prst="rect">
            <a:avLst/>
          </a:prstGeom>
          <a:solidFill>
            <a:srgbClr val="2C1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2402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7" y="22768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7" y="25694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Elevated signals — proactive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2768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</a:rPr>
              <a:t>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6609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9E0B"/>
                </a:solidFill>
              </a:rPr>
              <a:t>31.0%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329184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77639" y="3291840"/>
            <a:ext cx="2369657" cy="822960"/>
          </a:xfrm>
          <a:prstGeom prst="rect">
            <a:avLst/>
          </a:prstGeom>
          <a:solidFill>
            <a:srgbClr val="43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329184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7367" y="33284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97316"/>
                </a:solidFill>
              </a:rPr>
              <a:t>STRATEGIC CONCERN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7" y="36210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Significant risk — leadership action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3284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97316"/>
                </a:solidFill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7124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</a:rPr>
              <a:t>14.0%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434340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7639" y="4343400"/>
            <a:ext cx="1354090" cy="82296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4343400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7" y="43799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EF4444"/>
                </a:solidFill>
              </a:rPr>
              <a:t>PRIORITY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7367" y="46725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URGENT — immediate board-level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3799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F4444"/>
                </a:solidFill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476402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F4444"/>
                </a:solidFill>
              </a:rPr>
              <a:t>8.0%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532120"/>
            <a:ext cx="11612880" cy="685800"/>
          </a:xfrm>
          <a:prstGeom prst="rect">
            <a:avLst/>
          </a:prstGeom>
          <a:solidFill>
            <a:srgbClr val="08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4ADE80"/>
                </a:solidFill>
              </a:rPr>
              <a:t>Leadership Implication: 44 employees represent SAR 5.3M in financial exposure. Board action prevents SAR 440K in monthly accumulation.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05 | FINANCIAL EXPOSURE — THE NUMBER LEADERSHIP MUST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</a:rPr>
              <a:t>Financial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EF4444"/>
                </a:solidFill>
              </a:rPr>
              <a:t>SAR 5.3M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</a:rPr>
              <a:t>44 at-risk employees  ×  SAR 120,000 conservative turnover cost  (SHRM methodology)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8892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8620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2724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0B981"/>
                </a:solidFill>
              </a:rPr>
              <a:t>SAR 1.8M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490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35% conservative recovery rate  (academic benchmark)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788920"/>
            <a:ext cx="27432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8620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INACTION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272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440K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74903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accumulating per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788920"/>
            <a:ext cx="3017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862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RETENTION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272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3B82F6"/>
                </a:solidFill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7490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employees recoverable (28%)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116128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422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FULL METHODOLOGY TRANSPARENCY — HOW THIS NUMBER WAS CALCULATED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59E0B"/>
                </a:solidFill>
              </a:rPr>
              <a:t>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At-Risk</a:t>
            </a:r>
            <a:br/>
            <a:r>
              <a:t>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4748B"/>
                </a:solidFill>
              </a:rPr>
              <a:t>× SAR 120K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Conservative</a:t>
            </a:r>
            <a:br/>
            <a: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F4444"/>
                </a:solidFill>
              </a:rPr>
              <a:t>= SAR 5.3M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Financial</a:t>
            </a:r>
            <a:br/>
            <a:r>
              <a:t>Exposure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4748B"/>
                </a:solidFill>
              </a:rPr>
              <a:t>× 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Recovery</a:t>
            </a:r>
            <a:br/>
            <a:r>
              <a:t>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0B981"/>
                </a:solidFill>
              </a:rPr>
              <a:t>= SAR 1.8M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Potential</a:t>
            </a:r>
            <a:br/>
            <a:r>
              <a:t>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4748B"/>
                </a:solidFill>
              </a:rPr>
              <a:t>SHRM Human Capital Benchmarking  ·  Conservative academic recovery rate  ·  All figures are estimates — not financial guarantees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06 | COST OF INACTION — EVERY MONTH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Every month without a board decision costs SAR 440K.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2011680"/>
          </a:xfrm>
          <a:prstGeom prst="rect">
            <a:avLst/>
          </a:prstGeom>
          <a:solidFill>
            <a:srgbClr val="0A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440K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Decision deferred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280160"/>
            <a:ext cx="2834640" cy="2011680"/>
          </a:xfrm>
          <a:prstGeom prst="rect">
            <a:avLst/>
          </a:prstGeom>
          <a:solidFill>
            <a:srgbClr val="12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39" y="128016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7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7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1.3M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7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7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Momentum building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280160"/>
            <a:ext cx="2834640" cy="2011680"/>
          </a:xfrm>
          <a:prstGeom prst="rect">
            <a:avLst/>
          </a:prstGeom>
          <a:solidFill>
            <a:srgbClr val="1A0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280160"/>
            <a:ext cx="2834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7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7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2.6M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7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7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Critical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280160"/>
            <a:ext cx="2834640" cy="2011680"/>
          </a:xfrm>
          <a:prstGeom prst="rect">
            <a:avLst/>
          </a:prstGeom>
          <a:solidFill>
            <a:srgbClr val="220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280160"/>
            <a:ext cx="2834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5.3M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Full-year exposure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2044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57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06B6D4"/>
                </a:solidFill>
              </a:rPr>
              <a:t>WHAT HAPPENS IF LEADERSHIP ACTS 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981"/>
                </a:solidFill>
              </a:rPr>
              <a:t>SAR 1.8M recovered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Conservative savings estimate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B82F6"/>
                </a:solidFill>
              </a:rPr>
              <a:t>12 retained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Employees retained through intervention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59E0B"/>
                </a:solidFill>
              </a:rPr>
              <a:t>SAR 440K / mo stopped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Monthly cost accumulation halted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86400"/>
            <a:ext cx="11612880" cy="731520"/>
          </a:xfrm>
          <a:prstGeom prst="rect">
            <a:avLst/>
          </a:prstGeom>
          <a:solidFill>
            <a:srgbClr val="1A1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778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59E0B"/>
                </a:solidFill>
              </a:rPr>
              <a:t>The financial case for action is unambiguous. A SAR 1.8M recovery opportunity exists. The cost of delay is SAR 440K per month. This slide will be more expensive next quarter.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07 | HIGHEST-RISK DEPARTMENTS — FINANCIAL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Ranked by average risk score. Exposure = At-Risk × SAR 120,000 (SHRM conservative methodology).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8414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50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950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HEADCOUNT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0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AT-RISK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95097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950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950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MONTHLY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371600"/>
            <a:ext cx="118414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27432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4081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828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276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627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627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62763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627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840K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1627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200K/mo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267712"/>
            <a:ext cx="11841480" cy="82296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267712"/>
            <a:ext cx="27432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230428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27249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523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523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523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52374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1.8M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52374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630K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52374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150K/mo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559552"/>
            <a:ext cx="11841480" cy="658368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6B6D4"/>
                </a:solidFill>
              </a:rPr>
              <a:t>TOTAL (top 5 departments)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4.2M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0B981"/>
                </a:solidFill>
              </a:rPr>
              <a:t>SAR 1.5M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08 | RETENTION OPPORTUNITY — WHAT LEADERSHIP CAN RECOVER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E8F0"/>
                </a:solidFill>
              </a:rPr>
              <a:t>Targeted intervention can recover a significant portion of the financial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Potential Recovery with Targeted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0B981"/>
                </a:solidFill>
              </a:rPr>
              <a:t>SAR 1.8M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505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SAR 5.3M financial exposure  ×  35% conservative recovery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RECOVERABLE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0B981"/>
                </a:solidFill>
              </a:rPr>
              <a:t>SAR 1.8M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35% of exposure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EMPLOYEES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3B82F6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28% recoverable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COST HALTED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440K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per month stopped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Conservative estimates throughout. Not financial guarantees. Board approval required for investment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09 | STRATEGIC PRIORITIES — BOARD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Ranked by urgency and financial impact. Each priority requires board-level decision authority.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117957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2E8F0"/>
                </a:solidFill>
              </a:rPr>
              <a:t>Authorise an immediate 90-day Workforce Stabilisation Programme.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051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10 | BOARD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12880" cy="475488"/>
          </a:xfrm>
          <a:prstGeom prst="rect">
            <a:avLst/>
          </a:prstGeom>
          <a:solidFill>
            <a:srgbClr val="062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4ADE80"/>
                </a:solidFill>
              </a:rPr>
              <a:t>▶  DECISION REQUIRED  —  June 02,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11887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E2E8F0"/>
                </a:solidFill>
              </a:rPr>
              <a:t>Authorise an immediate 90-day Workforce Stabilisation Programme.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069080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406908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1788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4714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EF4444"/>
                </a:solidFill>
              </a:rPr>
              <a:t>SAR 5.3M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093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requires board authorisation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4069080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406908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1788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4714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0B981"/>
                </a:solidFill>
              </a:rPr>
              <a:t>SAR 1.8M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093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with targeted intervention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069080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06908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1788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COST OF DELAY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714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59E0B"/>
                </a:solidFill>
              </a:rPr>
              <a:t>SAR 440K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093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accumulating without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59552"/>
            <a:ext cx="11612880" cy="658368"/>
          </a:xfrm>
          <a:prstGeom prst="rect">
            <a:avLst/>
          </a:prstGeom>
          <a:solidFill>
            <a:srgbClr val="06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50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1">
                <a:solidFill>
                  <a:srgbClr val="4ADE80"/>
                </a:solidFill>
              </a:rPr>
              <a:t>The workforce risk is quantified.  The financial exposure is documented.  The recommended action is clear.  Board decision is required now.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11 | GOVERNANCE ASSURANCE — PDPL COMPLIANCE &amp; AI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E8F0"/>
                </a:solidFill>
              </a:rPr>
              <a:t>Governance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Saudi PDPL Article 5 — Technical Data Controls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441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Fully Offline — Zero External Data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2821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PII Columns Excluded Before Model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122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Proxy Leakage Prevention — Active and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9631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Conservative ML Metrics — No Score Inflation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Arabic-English Bilingual Throughout All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644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Governance Disclaimers Present on All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4845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No Individual Employee Identified in Any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02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E8F0"/>
                </a:solidFill>
              </a:rPr>
              <a:t>Validated ML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960120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051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051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82F6"/>
                </a:solidFill>
              </a:rPr>
              <a:t>0.847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673352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7647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MCC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764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6B6D4"/>
                </a:solidFill>
              </a:rPr>
              <a:t>0.494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386584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478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78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B5CF6"/>
                </a:solidFill>
              </a:rPr>
              <a:t>0.707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099816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1912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191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0B981"/>
                </a:solidFill>
              </a:rPr>
              <a:t>75.2%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950208"/>
            <a:ext cx="457200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01421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AI INTEGRITY STATEMENT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288536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94A3B8"/>
                </a:solidFill>
              </a:rPr>
              <a:t>VotingEnsemble (CatBoost + RandomForest + GradientBoosting). 5-fold StratifiedKFold cross-validation. Zero proxy leakage. Conservative metrics only. All outputs are statistical associations — not causal certainty. Qualified HR review required before any employment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12 | CLOSING EXECUTIVE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887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1">
                <a:solidFill>
                  <a:srgbClr val="E2E8F0"/>
                </a:solidFill>
              </a:rPr>
              <a:t>“Your workforce risk is quantified.</a:t>
            </a:r>
            <a:br/>
            <a:r>
              <a:t>Your financial exposure is documented.</a:t>
            </a:r>
            <a:br/>
            <a:r>
              <a:t>Your decision window is now.”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724912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852928"/>
            <a:ext cx="3749039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852928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99923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9E0B"/>
                </a:solidFill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931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64748B"/>
                </a:solidFill>
              </a:rPr>
              <a:t>EMPLOYEES AWAITING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2852928"/>
            <a:ext cx="3749039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2852928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299923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F4444"/>
                </a:solidFill>
              </a:rPr>
              <a:t>SAR 440K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3931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64748B"/>
                </a:solidFill>
              </a:rPr>
              <a:t>MONTHLY COST OF INACTION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852928"/>
            <a:ext cx="3749039" cy="1536192"/>
          </a:xfrm>
          <a:prstGeom prst="rect">
            <a:avLst/>
          </a:prstGeom>
          <a:solidFill>
            <a:srgbClr val="04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85292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99923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0B981"/>
                </a:solidFill>
              </a:rPr>
              <a:t>SAR 1.8M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931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64748B"/>
                </a:solidFill>
              </a:rPr>
              <a:t>POTENTIAL RECOVERY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53712"/>
            <a:ext cx="11612880" cy="1298448"/>
          </a:xfrm>
          <a:prstGeom prst="rect">
            <a:avLst/>
          </a:prstGeom>
          <a:solidFill>
            <a:srgbClr val="04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553712"/>
            <a:ext cx="64008" cy="12984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DE80"/>
                </a:solidFill>
              </a:rPr>
              <a:t>RECOMMENDED BOARD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11155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ADE80"/>
                </a:solidFill>
              </a:rPr>
              <a:t>Authorise HR programme.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AWI Enterprise Workforce Intelligence Platform  ·  PDPL-compliant  ·  Fully offline  ·  STRICTLY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