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37160"/>
            <a:ext cx="7315200" cy="347472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BOARD BRIEFING DOCUMENT  —  STRICTLY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645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64748B"/>
                </a:solidFill>
              </a:rPr>
              <a:t>June 02,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858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 i="0">
                <a:solidFill>
                  <a:srgbClr val="94A3B8"/>
                </a:solidFill>
              </a:rPr>
              <a:t>ACME CORP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515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E2E8F0"/>
                </a:solidFill>
              </a:rPr>
              <a:t>WORKFORCE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94A3B8"/>
                </a:solidFill>
              </a:rPr>
              <a:t>INTELLIGENCE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68880"/>
            <a:ext cx="65836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5603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94A3B8"/>
                </a:solidFill>
              </a:rPr>
              <a:t>Prepared exclusively for Board of Directors and C-Suite leadership.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8036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64748B"/>
                </a:solidFill>
              </a:rPr>
              <a:t>For strategic decision support only. Not for operational distribution.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1A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0"/>
            <a:ext cx="45720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457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EF4444"/>
                </a:solidFill>
              </a:rPr>
              <a:t>FINANCIAL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82296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EF4444"/>
                </a:solidFill>
              </a:rPr>
              <a:t>SAR 7.2M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1488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94A3B8"/>
                </a:solidFill>
              </a:rPr>
              <a:t>60 employees at elevated risk</a:t>
            </a:r>
            <a:br/>
            <a:r>
              <a:t>× SAR 120,000 conservative</a:t>
            </a:r>
            <a:br/>
            <a:r>
              <a:t>turnover cost  (SHRM methodology)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108960"/>
            <a:ext cx="3931920" cy="109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COST OF INACTION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54787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59E0B"/>
                </a:solidFill>
              </a:rPr>
              <a:t>SAR 600K /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4160520"/>
            <a:ext cx="3931920" cy="109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4297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POTENTIAL RECOVERY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5994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0B981"/>
                </a:solidFill>
              </a:rPr>
              <a:t>SAR 2.5M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5120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with targeted leadership intervention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6035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1">
                <a:solidFill>
                  <a:srgbClr val="94A3B8"/>
                </a:solidFill>
              </a:rPr>
              <a:t>A Financial Decision is 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02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2E8F0"/>
                </a:solidFill>
              </a:rPr>
              <a:t>60 employees (24% of workforce) are in elevated risk bands — representing SAR 7.2M in financial exposure that requires immediate board-level decision authority.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83080"/>
            <a:ext cx="116128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5029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9933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EF4444"/>
                </a:solidFill>
              </a:rPr>
              <a:t>FINANCIAL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EF4444"/>
                </a:solidFill>
              </a:rPr>
              <a:t>SAR 7.2M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99008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60 at-risk × SAR 120K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920240"/>
            <a:ext cx="292608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993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F97316"/>
                </a:solidFill>
              </a:rPr>
              <a:t>EMPLOYEES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240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97316"/>
                </a:solidFill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9900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of 250 total workforce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920240"/>
            <a:ext cx="32004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9933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10B981"/>
                </a:solidFill>
              </a:rPr>
              <a:t>POTENTIAL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240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0B981"/>
                </a:solidFill>
              </a:rPr>
              <a:t>SAR 2.5M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9900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with targeted intervention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474720"/>
            <a:ext cx="1161288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5387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6B6D4"/>
                </a:solidFill>
              </a:rPr>
              <a:t>KEY FINDING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7673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E2E8F0"/>
                </a:solidFill>
              </a:rPr>
              <a:t>Engineering and Operations departments concentrate the highest risk, while monthly cost of inaction accumulates at SAR 600K.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89120"/>
            <a:ext cx="11612880" cy="914400"/>
          </a:xfrm>
          <a:prstGeom prst="rect">
            <a:avLst/>
          </a:prstGeom>
          <a:solidFill>
            <a:srgbClr val="04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38912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531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4ADE80"/>
                </a:solidFill>
              </a:rPr>
              <a:t>BOARD RECOMMENDED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09160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4ADE80"/>
                </a:solidFill>
              </a:rPr>
              <a:t>Commission an immediate workforce stabilisation programme for high-risk departments.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03 | WHY LEADERSHIP SHOULD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E2E8F0"/>
                </a:solidFill>
              </a:rPr>
              <a:t>This is not an HR issue. It is a business continuity issue.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749039" cy="4114800"/>
          </a:xfrm>
          <a:prstGeom prst="rect">
            <a:avLst/>
          </a:prstGeom>
          <a:solidFill>
            <a:srgbClr val="2A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49039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EF4444"/>
                </a:solidFill>
              </a:rPr>
              <a:t>OPERATIONAL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3474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94A3B8"/>
                </a:solidFill>
              </a:rPr>
              <a:t>Losing 60 employees in critical roles disrupts delivery pipelines, project continuity, and institutional knowledge. Engineering and Operations are the highest-risk departments — both central to digital transformation.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280160"/>
            <a:ext cx="3749039" cy="4114800"/>
          </a:xfrm>
          <a:prstGeom prst="rect">
            <a:avLst/>
          </a:prstGeom>
          <a:solidFill>
            <a:srgbClr val="2A18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280160"/>
            <a:ext cx="3749039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F59E0B"/>
                </a:solidFill>
              </a:rPr>
              <a:t>FINANCIAL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19" y="1828800"/>
            <a:ext cx="3474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94A3B8"/>
                </a:solidFill>
              </a:rPr>
              <a:t>At SAR 600K accumulating per month, delayed action compounds the total exposure. Total exposure of SAR 7.2M does not account for secondary costs: knowledge transfer, recruitment, and productivity lag.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749039" cy="41148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749039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417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3B82F6"/>
                </a:solidFill>
              </a:rPr>
              <a:t>STRATEGIC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28800"/>
            <a:ext cx="3474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94A3B8"/>
                </a:solidFill>
              </a:rPr>
              <a:t>Workforce instability directly impacts Vision 2030 delivery commitments, Saudisation targets, and talent pipeline strength. Board-level visibility on workforce risk is a governance requirement, not an option.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577840"/>
            <a:ext cx="116128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F59E0B"/>
                </a:solidFill>
              </a:rPr>
              <a:t>The window for cost-effective intervention is now. Every month of inaction adds SAR 600K to the exposure. With targeted action, SAR 2.5M is recoverable.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04 | WORKFORCE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2E8F0"/>
                </a:solidFill>
              </a:rPr>
              <a:t>24.0% of the workforce requires leadership attention — 60 employees.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474720" cy="1737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6B6D4"/>
                </a:solidFill>
              </a:rPr>
              <a:t>WORKFORCE STABILITY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59E0B"/>
                </a:solidFill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94A3B8"/>
                </a:solidFill>
              </a:rPr>
              <a:t>/ 100  Grade 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788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F59E0B"/>
                </a:solidFill>
              </a:rPr>
              <a:t>Below threshold — intervention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188720"/>
            <a:ext cx="7955279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1188720"/>
            <a:ext cx="7955279" cy="82296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118872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87367" y="12252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STABLE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7" y="151790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Workforce in stable retention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2252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10B981"/>
                </a:solidFill>
              </a:rPr>
              <a:t>118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160934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0B981"/>
                </a:solidFill>
              </a:rPr>
              <a:t>47.2%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2240280"/>
            <a:ext cx="7955279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7639" y="2240280"/>
            <a:ext cx="4854068" cy="822960"/>
          </a:xfrm>
          <a:prstGeom prst="rect">
            <a:avLst/>
          </a:prstGeom>
          <a:solidFill>
            <a:srgbClr val="2C1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7639" y="2240280"/>
            <a:ext cx="54864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87367" y="22768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87367" y="256946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Elevated signals — proactive 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2768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59E0B"/>
                </a:solidFill>
              </a:rPr>
              <a:t>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266090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59E0B"/>
                </a:solidFill>
              </a:rPr>
              <a:t>28.8%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77639" y="3291840"/>
            <a:ext cx="7955279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77639" y="3291840"/>
            <a:ext cx="2561869" cy="822960"/>
          </a:xfrm>
          <a:prstGeom prst="rect">
            <a:avLst/>
          </a:prstGeom>
          <a:solidFill>
            <a:srgbClr val="43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77639" y="3291840"/>
            <a:ext cx="54864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7367" y="33284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97316"/>
                </a:solidFill>
              </a:rPr>
              <a:t>STRATEGIC CONCERN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7367" y="36210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Significant risk — leadership action needed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3284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97316"/>
                </a:solidFill>
              </a:rPr>
              <a:t>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71246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97316"/>
                </a:solidFill>
              </a:rPr>
              <a:t>15.2%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39" y="4343400"/>
            <a:ext cx="7955279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77639" y="4343400"/>
            <a:ext cx="1483187" cy="822960"/>
          </a:xfrm>
          <a:prstGeom prst="rect">
            <a:avLst/>
          </a:prstGeom>
          <a:solidFill>
            <a:srgbClr val="4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77639" y="4343400"/>
            <a:ext cx="54864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87367" y="437997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EF4444"/>
                </a:solidFill>
              </a:rPr>
              <a:t>PRIORITY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87367" y="467258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URGENT — immediate board-level decision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43799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EF4444"/>
                </a:solidFill>
              </a:rPr>
              <a:t>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476402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EF4444"/>
                </a:solidFill>
              </a:rPr>
              <a:t>8.8%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532120"/>
            <a:ext cx="11612880" cy="685800"/>
          </a:xfrm>
          <a:prstGeom prst="rect">
            <a:avLst/>
          </a:prstGeom>
          <a:solidFill>
            <a:srgbClr val="08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623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4ADE80"/>
                </a:solidFill>
              </a:rPr>
              <a:t>Leadership Implication: 60 employees represent SAR 7.2M in financial exposure. Board action prevents SAR 600K in monthly accumulation.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05 | FINANCIAL EXPOSURE — THE NUMBER LEADERSHIP MUST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4748B"/>
                </a:solidFill>
              </a:rPr>
              <a:t>Financial 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 i="0">
                <a:solidFill>
                  <a:srgbClr val="EF4444"/>
                </a:solidFill>
              </a:rPr>
              <a:t>SAR 7.2M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64748B"/>
                </a:solidFill>
              </a:rPr>
              <a:t>60 at-risk employees  ×  SAR 120,000 conservative turnover cost  (SHRM methodology)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788920"/>
            <a:ext cx="54864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8620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POTENTIAL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12724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0B981"/>
                </a:solidFill>
              </a:rPr>
              <a:t>SAR 2.5M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749039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35% conservative recovery rate  (academic benchmark)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788920"/>
            <a:ext cx="27432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86207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MONTHLY INACTION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127248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SAR 600K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749039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accumulating per month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2788920"/>
            <a:ext cx="30175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86207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RETENTION 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127248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3B82F6"/>
                </a:solidFill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749039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employees recoverable (28%)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69080"/>
            <a:ext cx="11612880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142232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6B6D4"/>
                </a:solidFill>
              </a:rPr>
              <a:t>FULL METHODOLOGY TRANSPARENCY — HOW THIS NUMBER WAS CALCULATED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59E0B"/>
                </a:solidFill>
              </a:rPr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At-Risk</a:t>
            </a:r>
            <a:br/>
            <a:r>
              <a:t>Employees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4748B"/>
                </a:solidFill>
              </a:rPr>
              <a:t>× SAR 120K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Conservative</a:t>
            </a:r>
            <a:br/>
            <a:r>
              <a:t>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F4444"/>
                </a:solidFill>
              </a:rPr>
              <a:t>= SAR 7.2M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Financial</a:t>
            </a:r>
            <a:br/>
            <a:r>
              <a:t>Exposure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59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64748B"/>
                </a:solidFill>
              </a:rPr>
              <a:t>× 35%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59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Recovery</a:t>
            </a:r>
            <a:br/>
            <a:r>
              <a:t>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46227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0B981"/>
                </a:solidFill>
              </a:rPr>
              <a:t>= SAR 2.5M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495604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Potential</a:t>
            </a:r>
            <a:br/>
            <a:r>
              <a:t>Savings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1722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0">
                <a:solidFill>
                  <a:srgbClr val="64748B"/>
                </a:solidFill>
              </a:rPr>
              <a:t>SHRM Human Capital Benchmarking  ·  Conservative academic recovery rate  ·  All figures are estimates — not financial guarantees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06 | COST OF INACTION — EVERY MONTH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Every month without a board decision costs SAR 600K.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2011680"/>
          </a:xfrm>
          <a:prstGeom prst="rect">
            <a:avLst/>
          </a:prstGeom>
          <a:solidFill>
            <a:srgbClr val="0A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834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71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94A3B8"/>
                </a:solidFill>
              </a:rPr>
              <a:t>Month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190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SAR 600K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4323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F59E0B"/>
                </a:solidFill>
              </a:rPr>
              <a:t>Decision deferred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1280160"/>
            <a:ext cx="2834640" cy="2011680"/>
          </a:xfrm>
          <a:prstGeom prst="rect">
            <a:avLst/>
          </a:prstGeom>
          <a:solidFill>
            <a:srgbClr val="12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39" y="1280160"/>
            <a:ext cx="2834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7" y="1371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94A3B8"/>
                </a:solidFill>
              </a:rPr>
              <a:t>Month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7" y="17190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SAR 1.8M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7" y="24323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7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F59E0B"/>
                </a:solidFill>
              </a:rPr>
              <a:t>Momentum building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280160"/>
            <a:ext cx="2834640" cy="2011680"/>
          </a:xfrm>
          <a:prstGeom prst="rect">
            <a:avLst/>
          </a:prstGeom>
          <a:solidFill>
            <a:srgbClr val="1A09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1280160"/>
            <a:ext cx="28346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7" y="1371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94A3B8"/>
                </a:solidFill>
              </a:rPr>
              <a:t>Month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7" y="17190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F4444"/>
                </a:solidFill>
              </a:rPr>
              <a:t>SAR 3.6M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7" y="24323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7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F59E0B"/>
                </a:solidFill>
              </a:rPr>
              <a:t>Critical threshold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280160"/>
            <a:ext cx="2834640" cy="2011680"/>
          </a:xfrm>
          <a:prstGeom prst="rect">
            <a:avLst/>
          </a:prstGeom>
          <a:solidFill>
            <a:srgbClr val="220B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1280160"/>
            <a:ext cx="28346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137160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94A3B8"/>
                </a:solidFill>
              </a:rPr>
              <a:t>Month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1719072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F4444"/>
                </a:solidFill>
              </a:rPr>
              <a:t>SAR 7.2M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43230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2724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1">
                <a:solidFill>
                  <a:srgbClr val="F59E0B"/>
                </a:solidFill>
              </a:rPr>
              <a:t>Full-year exposure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520440"/>
            <a:ext cx="116128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65760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06B6D4"/>
                </a:solidFill>
              </a:rPr>
              <a:t>WHAT HAPPENS IF LEADERSHIP ACTS NOW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069080"/>
            <a:ext cx="36576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160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0B981"/>
                </a:solidFill>
              </a:rPr>
              <a:t>SAR 2.5M recovered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773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4748B"/>
                </a:solidFill>
              </a:rPr>
              <a:t>Conservative savings estimate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069080"/>
            <a:ext cx="36576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160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B82F6"/>
                </a:solidFill>
              </a:rPr>
              <a:t>16 retained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773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4748B"/>
                </a:solidFill>
              </a:rPr>
              <a:t>Employees retained through intervention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4069080"/>
            <a:ext cx="365760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416052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F59E0B"/>
                </a:solidFill>
              </a:rPr>
              <a:t>SAR 600K / mo stopped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7731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64748B"/>
                </a:solidFill>
              </a:rPr>
              <a:t>Monthly cost accumulation halted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486400"/>
            <a:ext cx="11612880" cy="731520"/>
          </a:xfrm>
          <a:prstGeom prst="rect">
            <a:avLst/>
          </a:prstGeom>
          <a:solidFill>
            <a:srgbClr val="1A10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5778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F59E0B"/>
                </a:solidFill>
              </a:rPr>
              <a:t>The financial case for action is unambiguous. A SAR 2.5M recovery opportunity exists. The cost of delay is SAR 600K per month. This slide will be more expensive next quarter.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07 | HIGHEST-RISK DEPARTMENTS — FINANCIAL EXPOSURE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</a:rPr>
              <a:t>Ranked by average risk score. Exposure = At-Risk × SAR 120,000 (SHRM conservative methodology).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11841480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509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9509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HEADCOUNT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9509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AT-RISK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950976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9509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9509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MONTHLY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371600"/>
            <a:ext cx="118414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371600"/>
            <a:ext cx="54864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6276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E2E8F0"/>
                </a:solidFill>
              </a:rP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627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62763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627632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SAR 3.0M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276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0B981"/>
                </a:solidFill>
              </a:rPr>
              <a:t>SAR 1.1M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16276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F59E0B"/>
                </a:solidFill>
              </a:rPr>
              <a:t>SAR 250K/mo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267712"/>
            <a:ext cx="11841480" cy="822960"/>
          </a:xfrm>
          <a:prstGeom prst="rect">
            <a:avLst/>
          </a:prstGeom>
          <a:solidFill>
            <a:srgbClr val="18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2267712"/>
            <a:ext cx="54864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5237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E2E8F0"/>
                </a:solidFill>
              </a:rPr>
              <a:t>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5237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</a:rPr>
              <a:t>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5237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523744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SAR 2.2M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52374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0B981"/>
                </a:solidFill>
              </a:rPr>
              <a:t>SAR 756K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252374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F59E0B"/>
                </a:solidFill>
              </a:rPr>
              <a:t>SAR 180K/mo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163824"/>
            <a:ext cx="11841480" cy="822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163824"/>
            <a:ext cx="54864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41985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i="0">
                <a:solidFill>
                  <a:srgbClr val="E2E8F0"/>
                </a:solidFill>
              </a:rPr>
              <a:t>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41985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94A3B8"/>
                </a:solidFill>
              </a:rPr>
              <a:t>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41985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97316"/>
                </a:solidFill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419856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SAR 1.3M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419856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10B981"/>
                </a:solidFill>
              </a:rPr>
              <a:t>SAR 462K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3419856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F59E0B"/>
                </a:solidFill>
              </a:rPr>
              <a:t>SAR 110K/mo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559552"/>
            <a:ext cx="11841480" cy="658368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5687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6B6D4"/>
                </a:solidFill>
              </a:rPr>
              <a:t>TOTAL (top 5 departments)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68756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EF4444"/>
                </a:solidFill>
              </a:rPr>
              <a:t>SAR 6.5M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56875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0B981"/>
                </a:solidFill>
              </a:rPr>
              <a:t>SAR 2.3M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08 | RETENTION OPPORTUNITY — WHAT LEADERSHIP CAN RECOVER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2E8F0"/>
                </a:solidFill>
              </a:rPr>
              <a:t>Targeted intervention can recover a significant portion of the financial exposure.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Potential Recovery with Targeted Intervention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10B981"/>
                </a:solidFill>
              </a:rPr>
              <a:t>SAR 2.5M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5059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</a:rPr>
              <a:t>SAR 7.2M financial exposure  ×  35% conservative recovery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71800"/>
            <a:ext cx="3657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30449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RECOVERABLE SAVINGS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3558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0B981"/>
                </a:solidFill>
              </a:rPr>
              <a:t>SAR 2.5M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7763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35% of exposure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971800"/>
            <a:ext cx="3657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30449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3B82F6"/>
                </a:solidFill>
              </a:rPr>
              <a:t>EMPLOYEES RETAINED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3558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3B82F6"/>
                </a:solidFill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97763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28% recoverable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971800"/>
            <a:ext cx="36576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04495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MONTHLY COST HALTED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3558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SAR 600K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97763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per month stopped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17220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Conservative estimates throughout. Not financial guarantees. Board approval required for investment decisions.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09 | STRATEGIC PRIORITIES — BOARD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4748B"/>
                </a:solidFill>
              </a:rPr>
              <a:t>Ranked by urgency and financial impact. Each priority requires board-level decision authority.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286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64748B"/>
                </a:solidFill>
              </a:rPr>
              <a:t>Strategic priorities require decision intelligence module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10 | BOARD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4ADE80"/>
                </a:solidFill>
              </a:rPr>
              <a:t>THE BOARD IS RECOMMENDED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887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E2E8F0"/>
                </a:solidFill>
              </a:rPr>
              <a:t>Commission an immediate 90-day Workforce Stabilisation Programme with monthly board progress reporting.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977639"/>
            <a:ext cx="36576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977639"/>
            <a:ext cx="36576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06907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EF4444"/>
                </a:solidFill>
              </a:rPr>
              <a:t>FINANCIAL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361687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EF4444"/>
                </a:solidFill>
              </a:rPr>
              <a:t>SAR 7.2M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93775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requiring board authorisation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3977639"/>
            <a:ext cx="36576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977639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406907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10B981"/>
                </a:solidFill>
              </a:rPr>
              <a:t>POTENTIAL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361687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0B981"/>
                </a:solidFill>
              </a:rPr>
              <a:t>SAR 2.5M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93775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with targeted intervention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3977639"/>
            <a:ext cx="3657600" cy="1325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3977639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406907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F59E0B"/>
                </a:solidFill>
              </a:rPr>
              <a:t>MONTHLY COST OF DELAY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4361687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F59E0B"/>
                </a:solidFill>
              </a:rPr>
              <a:t>SAR 600K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937759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accumulating without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486400"/>
            <a:ext cx="11612880" cy="713232"/>
          </a:xfrm>
          <a:prstGeom prst="rect">
            <a:avLst/>
          </a:prstGeom>
          <a:solidFill>
            <a:srgbClr val="06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9612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1">
                <a:solidFill>
                  <a:srgbClr val="4ADE80"/>
                </a:solidFill>
              </a:rPr>
              <a:t>Decision Required.  The workforce risk is quantified.  The financial exposure is documented.  The recommended action is clear.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11 | GOVERNANCE ASSURANCE — PDPL COMPLIANCE &amp; AI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2E8F0"/>
                </a:solidFill>
              </a:rPr>
              <a:t>Governance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Saudi PDPL Article 5 — Technical Data Controls 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4416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Fully Offline — Zero External Data 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2821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PII Columns Excluded Before Model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12264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Proxy Leakage Prevention — Active and Tested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9631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Conservative ML Metrics — No Score Inflation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8036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Arabic-English Bilingual Throughout All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6440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Governance Disclaimers Present on All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648456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10B981"/>
                </a:solidFill>
              </a:rPr>
              <a:t>✓  No Individual Employee Identified in Any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5029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2E8F0"/>
                </a:solidFill>
              </a:rPr>
              <a:t>Validated ML Metrics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960120"/>
            <a:ext cx="4572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10515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ROC-AUC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1051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3B82F6"/>
                </a:solidFill>
              </a:rPr>
              <a:t>0.847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9" y="1673352"/>
            <a:ext cx="4572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7647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MCC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76479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06B6D4"/>
                </a:solidFill>
              </a:rPr>
              <a:t>0.494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2386584"/>
            <a:ext cx="4572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4780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F1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4780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8B5CF6"/>
                </a:solidFill>
              </a:rPr>
              <a:t>0.707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3099816"/>
            <a:ext cx="457200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31912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1912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0B981"/>
                </a:solidFill>
              </a:rPr>
              <a:t>75.2%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3950208"/>
            <a:ext cx="457200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401421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1" i="0">
                <a:solidFill>
                  <a:srgbClr val="06B6D4"/>
                </a:solidFill>
              </a:rPr>
              <a:t>AI INTEGRITY STATEMENT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288536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94A3B8"/>
                </a:solidFill>
              </a:rPr>
              <a:t>VotingEnsemble (CatBoost + RandomForest + GradientBoosting). 5-fold StratifiedKFold cross-validation. Zero proxy leakage. Conservative metrics only. All outputs are statistical associations — not causal certainty. Qualified HR review required before any employment action.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 i="0">
                <a:solidFill>
                  <a:srgbClr val="06B6D4"/>
                </a:solidFill>
              </a:rPr>
              <a:t>12 | CLOSING EXECUTIVE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1887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1">
                <a:solidFill>
                  <a:srgbClr val="94A3B8"/>
                </a:solidFill>
              </a:rPr>
              <a:t>“Your workforce risk is quantified.</a:t>
            </a:r>
            <a:br/>
            <a:r>
              <a:t>Your financial exposure is documented.</a:t>
            </a:r>
            <a:br/>
            <a:r>
              <a:t>Your decision window is now.”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743200"/>
            <a:ext cx="1161288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2926080"/>
            <a:ext cx="3749039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92608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063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59E0B"/>
                </a:solidFill>
              </a:rP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8587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EMPLOYEES</a:t>
            </a:r>
            <a:br/>
            <a:r>
              <a:t>AWAITING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2926080"/>
            <a:ext cx="3749039" cy="1417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2926080"/>
            <a:ext cx="3749039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3063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EF4444"/>
                </a:solidFill>
              </a:rPr>
              <a:t>SAR 600K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38587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MONTHLY COST</a:t>
            </a:r>
            <a:br/>
            <a:r>
              <a:t>OF INACTION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926080"/>
            <a:ext cx="3749039" cy="1417320"/>
          </a:xfrm>
          <a:prstGeom prst="rect">
            <a:avLst/>
          </a:prstGeom>
          <a:solidFill>
            <a:srgbClr val="041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92608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306324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0B981"/>
                </a:solidFill>
              </a:rPr>
              <a:t>SAR 2.5M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8587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 i="0">
                <a:solidFill>
                  <a:srgbClr val="64748B"/>
                </a:solidFill>
              </a:rPr>
              <a:t>POTENTIAL</a:t>
            </a:r>
            <a:br/>
            <a:r>
              <a:t>RECOVERY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572000"/>
            <a:ext cx="11612880" cy="1234440"/>
          </a:xfrm>
          <a:prstGeom prst="rect">
            <a:avLst/>
          </a:prstGeom>
          <a:solidFill>
            <a:srgbClr val="041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572000"/>
            <a:ext cx="54864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45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i="0">
                <a:solidFill>
                  <a:srgbClr val="4ADE80"/>
                </a:solidFill>
              </a:rPr>
              <a:t>RECOMMENDED BOARD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77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4ADE80"/>
                </a:solidFill>
              </a:rPr>
              <a:t>Authorise a 90-day Workforce Stabilisation Programme with monthly board progress reporting.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0807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 i="0">
                <a:solidFill>
                  <a:srgbClr val="64748B"/>
                </a:solidFill>
              </a:rPr>
              <a:t>AWI Enterprise Workforce Intelligence Platform  ·  PDPL-compliant  ·  Fully offline  ·  STRICTLY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50" b="0" i="0">
                <a:solidFill>
                  <a:srgbClr val="64748B"/>
                </a:solidFill>
              </a:rPr>
              <a:t>CONFIDENTIAL — Authorised Executives Only  |  Statistical estimates, not causal certainty  |  PDPL Compliant  |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