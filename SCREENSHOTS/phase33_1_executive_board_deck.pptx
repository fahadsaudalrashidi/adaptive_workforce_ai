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37160"/>
            <a:ext cx="7315200" cy="347472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06B6D4"/>
                </a:solidFill>
              </a:rPr>
              <a:t>BOARD BRIEFING DOCUMENT  —  STRICTLY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1645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4748B"/>
                </a:solidFill>
              </a:rPr>
              <a:t>June 02,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8580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 i="0">
                <a:solidFill>
                  <a:srgbClr val="94A3B8"/>
                </a:solidFill>
              </a:rPr>
              <a:t>SAUDI NATIONAL CORP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05156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E2E8F0"/>
                </a:solidFill>
              </a:rPr>
              <a:t>WORKFORCE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82880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94A3B8"/>
                </a:solidFill>
              </a:rPr>
              <a:t>INTELLIGENCE REPORT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468880"/>
            <a:ext cx="65836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56032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94A3B8"/>
                </a:solidFill>
              </a:rPr>
              <a:t>Prepared exclusively for Board of Directors and C-Suite leadership.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88036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1">
                <a:solidFill>
                  <a:srgbClr val="64748B"/>
                </a:solidFill>
              </a:rPr>
              <a:t>For strategic decision support only. Not for operational distribution.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0"/>
            <a:ext cx="4572000" cy="6858000"/>
          </a:xfrm>
          <a:prstGeom prst="rect">
            <a:avLst/>
          </a:prstGeom>
          <a:solidFill>
            <a:srgbClr val="1A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0" y="0"/>
            <a:ext cx="45720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457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 i="0">
                <a:solidFill>
                  <a:srgbClr val="EF4444"/>
                </a:solidFill>
              </a:rPr>
              <a:t>FINANCIAL EXPOSURE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822960"/>
            <a:ext cx="4297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EF4444"/>
                </a:solidFill>
              </a:rPr>
              <a:t>SAR 33.7M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214884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94A3B8"/>
                </a:solidFill>
              </a:rPr>
              <a:t>281 employees at elevated risk</a:t>
            </a:r>
            <a:br/>
            <a:r>
              <a:t>× SAR 120,000 conservative</a:t>
            </a:r>
            <a:br/>
            <a:r>
              <a:t>turnover cost  (SHRM methodology)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3108960"/>
            <a:ext cx="3931920" cy="109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32461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F59E0B"/>
                </a:solidFill>
              </a:rPr>
              <a:t>COST OF INACTION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354787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F59E0B"/>
                </a:solidFill>
              </a:rPr>
              <a:t>SAR 2.8M / month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1000" y="4160520"/>
            <a:ext cx="3931920" cy="109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1000" y="42976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10B981"/>
                </a:solidFill>
              </a:rPr>
              <a:t>POTENTIAL RECOVERY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459943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10B981"/>
                </a:solidFill>
              </a:rPr>
              <a:t>SAR 11.8M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51206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64748B"/>
                </a:solidFill>
              </a:rPr>
              <a:t>with targeted leadership intervention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60350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1">
                <a:solidFill>
                  <a:srgbClr val="94A3B8"/>
                </a:solidFill>
              </a:rPr>
              <a:t>A Financial Decision is Required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50" b="0" i="0">
                <a:solidFill>
                  <a:srgbClr val="64748B"/>
                </a:solidFill>
              </a:rPr>
              <a:t>CONFIDENTIAL — Authorised Executives Only  |  Statistical estimates, not causal certainty  |  PDPL Compliant  |  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06B6D4"/>
                </a:solidFill>
              </a:rPr>
              <a:t>02 |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11887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E2E8F0"/>
                </a:solidFill>
              </a:rPr>
              <a:t>281 employees (0% of workforce) are in elevated risk bands — representing SAR 33.7M in financial exposure that requires immediate board-level decision authority.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783080"/>
            <a:ext cx="116128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920240"/>
            <a:ext cx="50292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99339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EF4444"/>
                </a:solidFill>
              </a:rPr>
              <a:t>FINANCIAL EXPOSURE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2402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EF4444"/>
                </a:solidFill>
              </a:rPr>
              <a:t>SAR 33.7M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990088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64748B"/>
                </a:solidFill>
              </a:rPr>
              <a:t>281 at-risk × SAR 120K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920240"/>
            <a:ext cx="292608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23560" y="199339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F97316"/>
                </a:solidFill>
              </a:rPr>
              <a:t>EMPLOYEES AT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3560" y="22402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97316"/>
                </a:solidFill>
              </a:rPr>
              <a:t>281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299008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64748B"/>
                </a:solidFill>
              </a:rPr>
              <a:t>of 0 total workforce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95360" y="1920240"/>
            <a:ext cx="32004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32520" y="199339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10B981"/>
                </a:solidFill>
              </a:rPr>
              <a:t>POTENTIAL SAVINGS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22402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0B981"/>
                </a:solidFill>
              </a:rPr>
              <a:t>SAR 11.8M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299008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64748B"/>
                </a:solidFill>
              </a:rPr>
              <a:t>with targeted intervention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474720"/>
            <a:ext cx="1161288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53872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06B6D4"/>
                </a:solidFill>
              </a:rPr>
              <a:t>KEY FINDING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376732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E2E8F0"/>
                </a:solidFill>
              </a:rPr>
              <a:t>Engineering and Operations departments concentrate the highest risk, while monthly cost of inaction accumulates at SAR 2.8M.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389120"/>
            <a:ext cx="11612880" cy="914400"/>
          </a:xfrm>
          <a:prstGeom prst="rect">
            <a:avLst/>
          </a:prstGeom>
          <a:solidFill>
            <a:srgbClr val="041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4389120"/>
            <a:ext cx="54864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45312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4ADE80"/>
                </a:solidFill>
              </a:rPr>
              <a:t>BOARD RECOMMENDED 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709160"/>
            <a:ext cx="11155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4ADE80"/>
                </a:solidFill>
              </a:rPr>
              <a:t>Commission an immediate workforce stabilisation programme for high-risk departments.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50" b="0" i="0">
                <a:solidFill>
                  <a:srgbClr val="64748B"/>
                </a:solidFill>
              </a:rPr>
              <a:t>CONFIDENTIAL — Authorised Executives Only  |  Statistical estimates, not causal certainty  |  PDPL Compliant  |  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06B6D4"/>
                </a:solidFill>
              </a:rPr>
              <a:t>03 | WHY LEADERSHIP SHOULD 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1188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E2E8F0"/>
                </a:solidFill>
              </a:rPr>
              <a:t>This is not an HR issue. It is a business continuity issue.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3749039" cy="4114800"/>
          </a:xfrm>
          <a:prstGeom prst="rect">
            <a:avLst/>
          </a:prstGeom>
          <a:solidFill>
            <a:srgbClr val="2A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3749039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4173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EF4444"/>
                </a:solidFill>
              </a:rPr>
              <a:t>OPERATIONAL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28800"/>
            <a:ext cx="3474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94A3B8"/>
                </a:solidFill>
              </a:rPr>
              <a:t>Losing 281 employees in critical roles disrupts delivery pipelines, project continuity, and institutional knowledge. Engineering and Operations are the highest-risk departments — both central to digital transformation.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9" y="1280160"/>
            <a:ext cx="3749039" cy="4114800"/>
          </a:xfrm>
          <a:prstGeom prst="rect">
            <a:avLst/>
          </a:prstGeom>
          <a:solidFill>
            <a:srgbClr val="2A18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59" y="1280160"/>
            <a:ext cx="3749039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19" y="14173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F59E0B"/>
                </a:solidFill>
              </a:rPr>
              <a:t>FINANCIAL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19" y="1828800"/>
            <a:ext cx="3474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94A3B8"/>
                </a:solidFill>
              </a:rPr>
              <a:t>At SAR 2.8M accumulating per month, delayed action compounds the total exposure. Total exposure of SAR 33.7M does not account for secondary costs: knowledge transfer, recruitment, and productivity lag.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280160"/>
            <a:ext cx="3749039" cy="4114800"/>
          </a:xfrm>
          <a:prstGeom prst="rect">
            <a:avLst/>
          </a:prstGeom>
          <a:solidFill>
            <a:srgbClr val="04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280160"/>
            <a:ext cx="3749039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4173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3B82F6"/>
                </a:solidFill>
              </a:rPr>
              <a:t>STRATEGIC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1828800"/>
            <a:ext cx="3474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94A3B8"/>
                </a:solidFill>
              </a:rPr>
              <a:t>Workforce instability directly impacts Vision 2030 delivery commitments, Saudisation targets, and talent pipeline strength. Board-level visibility on workforce risk is a governance requirement, not an option.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577840"/>
            <a:ext cx="1161288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669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F59E0B"/>
                </a:solidFill>
              </a:rPr>
              <a:t>The window for cost-effective intervention is now. Every month of inaction adds SAR 2.8M to the exposure. With targeted action, SAR 11.8M is recoverable.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50" b="0" i="0">
                <a:solidFill>
                  <a:srgbClr val="64748B"/>
                </a:solidFill>
              </a:rPr>
              <a:t>CONFIDENTIAL — Authorised Executives Only  |  Statistical estimates, not causal certainty  |  PDPL Compliant  |  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06B6D4"/>
                </a:solidFill>
              </a:rPr>
              <a:t>04 | WORKFORCE STABILITY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1188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E2E8F0"/>
                </a:solidFill>
              </a:rPr>
              <a:t>0% of the workforce requires leadership attention — 281 employees.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3474720" cy="1737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6187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06B6D4"/>
                </a:solidFill>
              </a:rPr>
              <a:t>WORKFORCE STABILITY INDEX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55448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59E0B"/>
                </a:solidFill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3774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94A3B8"/>
                </a:solidFill>
              </a:rPr>
              <a:t>/ 100  Grade 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788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1">
                <a:solidFill>
                  <a:srgbClr val="F59E0B"/>
                </a:solidFill>
              </a:rPr>
              <a:t>Below threshold — intervention required.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77639" y="1188720"/>
            <a:ext cx="7955279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77639" y="1188720"/>
            <a:ext cx="7955279" cy="822960"/>
          </a:xfrm>
          <a:prstGeom prst="rect">
            <a:avLst/>
          </a:prstGeom>
          <a:solidFill>
            <a:srgbClr val="052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77639" y="1188720"/>
            <a:ext cx="54864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87367" y="122529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10B981"/>
                </a:solidFill>
              </a:rPr>
              <a:t>STABLE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87367" y="1517904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 i="0">
                <a:solidFill>
                  <a:srgbClr val="64748B"/>
                </a:solidFill>
              </a:rPr>
              <a:t>Workforce in stable retention state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122529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10B981"/>
                </a:solidFill>
              </a:rPr>
              <a:t>301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1609344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0B981"/>
                </a:solidFill>
              </a:rPr>
              <a:t>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77639" y="2240280"/>
            <a:ext cx="7955279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977639" y="2240280"/>
            <a:ext cx="5761630" cy="822960"/>
          </a:xfrm>
          <a:prstGeom prst="rect">
            <a:avLst/>
          </a:prstGeom>
          <a:solidFill>
            <a:srgbClr val="2C1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77639" y="2240280"/>
            <a:ext cx="54864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87367" y="227685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F59E0B"/>
                </a:solidFill>
              </a:rPr>
              <a:t>MONITORING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87367" y="2569464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 i="0">
                <a:solidFill>
                  <a:srgbClr val="64748B"/>
                </a:solidFill>
              </a:rPr>
              <a:t>Elevated signals — proactive engagement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227685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F59E0B"/>
                </a:solidFill>
              </a:rPr>
              <a:t>218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2660904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59E0B"/>
                </a:solidFill>
              </a:rPr>
              <a:t>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77639" y="3291840"/>
            <a:ext cx="7955279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977639" y="3291840"/>
            <a:ext cx="4942316" cy="822960"/>
          </a:xfrm>
          <a:prstGeom prst="rect">
            <a:avLst/>
          </a:prstGeom>
          <a:solidFill>
            <a:srgbClr val="43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977639" y="3291840"/>
            <a:ext cx="54864" cy="8229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87367" y="332841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F97316"/>
                </a:solidFill>
              </a:rPr>
              <a:t>STRATEGIC CONCERN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87367" y="3621024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 i="0">
                <a:solidFill>
                  <a:srgbClr val="64748B"/>
                </a:solidFill>
              </a:rPr>
              <a:t>Significant risk — leadership action needed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332841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F97316"/>
                </a:solidFill>
              </a:rPr>
              <a:t>187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3712464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97316"/>
                </a:solidFill>
              </a:rPr>
              <a:t>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77639" y="4343400"/>
            <a:ext cx="7955279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977639" y="4343400"/>
            <a:ext cx="2484372" cy="822960"/>
          </a:xfrm>
          <a:prstGeom prst="rect">
            <a:avLst/>
          </a:prstGeom>
          <a:solidFill>
            <a:srgbClr val="45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977639" y="4343400"/>
            <a:ext cx="54864" cy="8229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87367" y="437997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EF4444"/>
                </a:solidFill>
              </a:rPr>
              <a:t>PRIORITY 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87367" y="4672584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 i="0">
                <a:solidFill>
                  <a:srgbClr val="64748B"/>
                </a:solidFill>
              </a:rPr>
              <a:t>URGENT — immediate board-level decision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437997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EF4444"/>
                </a:solidFill>
              </a:rPr>
              <a:t>94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4764024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F4444"/>
                </a:solidFill>
              </a:rPr>
              <a:t>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5532120"/>
            <a:ext cx="11612880" cy="685800"/>
          </a:xfrm>
          <a:prstGeom prst="rect">
            <a:avLst/>
          </a:prstGeom>
          <a:solidFill>
            <a:srgbClr val="082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562356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4ADE80"/>
                </a:solidFill>
              </a:rPr>
              <a:t>Leadership Implication: 281 employees represent SAR 33.7M in financial exposure. Board action prevents SAR 2.8M in monthly accumulation.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50" b="0" i="0">
                <a:solidFill>
                  <a:srgbClr val="64748B"/>
                </a:solidFill>
              </a:rPr>
              <a:t>CONFIDENTIAL — Authorised Executives Only  |  Statistical estimates, not causal certainty  |  PDPL Compliant  |  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06B6D4"/>
                </a:solidFill>
              </a:rPr>
              <a:t>05 | FINANCIAL EXPOSURE — THE NUMBER LEADERSHIP MUST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64748B"/>
                </a:solidFill>
              </a:rPr>
              <a:t>Financial Exposure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200" b="1" i="0">
                <a:solidFill>
                  <a:srgbClr val="EF4444"/>
                </a:solidFill>
              </a:rPr>
              <a:t>SAR 33.7M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2860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64748B"/>
                </a:solidFill>
              </a:rPr>
              <a:t>281 at-risk employees  ×  SAR 120,000 conservative turnover cost  (SHRM methodology)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788920"/>
            <a:ext cx="54864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286207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10B981"/>
                </a:solidFill>
              </a:rPr>
              <a:t>POTENTIAL SAVINGS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12724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0B981"/>
                </a:solidFill>
              </a:rPr>
              <a:t>SAR 11.8M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749039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64748B"/>
                </a:solidFill>
              </a:rPr>
              <a:t>35% conservative recovery rate  (academic benchmark)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2788920"/>
            <a:ext cx="27432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286207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F59E0B"/>
                </a:solidFill>
              </a:rPr>
              <a:t>MONTHLY INACTION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3127248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F59E0B"/>
                </a:solidFill>
              </a:rPr>
              <a:t>SAR 2.8M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3749039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64748B"/>
                </a:solidFill>
              </a:rPr>
              <a:t>accumulating per month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23960" y="2788920"/>
            <a:ext cx="301752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286207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3B82F6"/>
                </a:solidFill>
              </a:rPr>
              <a:t>RETENTION OPPORTUNITY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3127248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3B82F6"/>
                </a:solidFill>
              </a:rPr>
              <a:t>78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3749039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64748B"/>
                </a:solidFill>
              </a:rPr>
              <a:t>employees recoverable (28%)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069080"/>
            <a:ext cx="11612880" cy="1417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414223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06B6D4"/>
                </a:solidFill>
              </a:rPr>
              <a:t>FULL METHODOLOGY TRANSPARENCY — HOW THIS NUMBER WAS CALCULATED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4622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59E0B"/>
                </a:solidFill>
              </a:rPr>
              <a:t>281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95604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 i="0">
                <a:solidFill>
                  <a:srgbClr val="64748B"/>
                </a:solidFill>
              </a:rPr>
              <a:t>At-Risk</a:t>
            </a:r>
            <a:br/>
            <a:r>
              <a:t>Employees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44622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64748B"/>
                </a:solidFill>
              </a:rPr>
              <a:t>× SAR 120K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8920" y="495604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 i="0">
                <a:solidFill>
                  <a:srgbClr val="64748B"/>
                </a:solidFill>
              </a:rPr>
              <a:t>Conservative</a:t>
            </a:r>
            <a:br/>
            <a:r>
              <a:t>cost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44622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EF4444"/>
                </a:solidFill>
              </a:rPr>
              <a:t>= SAR 33.7M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495604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 i="0">
                <a:solidFill>
                  <a:srgbClr val="64748B"/>
                </a:solidFill>
              </a:rPr>
              <a:t>Financial</a:t>
            </a:r>
            <a:br/>
            <a:r>
              <a:t>Exposure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59" y="44622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64748B"/>
                </a:solidFill>
              </a:rPr>
              <a:t>× 35%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59" y="495604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 i="0">
                <a:solidFill>
                  <a:srgbClr val="64748B"/>
                </a:solidFill>
              </a:rPr>
              <a:t>Recovery</a:t>
            </a:r>
            <a:br/>
            <a:r>
              <a:t>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44622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0B981"/>
                </a:solidFill>
              </a:rPr>
              <a:t>= SAR 11.8M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495604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 i="0">
                <a:solidFill>
                  <a:srgbClr val="64748B"/>
                </a:solidFill>
              </a:rPr>
              <a:t>Potential</a:t>
            </a:r>
            <a:br/>
            <a:r>
              <a:t>Savings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617220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 i="0">
                <a:solidFill>
                  <a:srgbClr val="64748B"/>
                </a:solidFill>
              </a:rPr>
              <a:t>SHRM Human Capital Benchmarking  ·  Conservative academic recovery rate  ·  All figures are estimates — not financial guarantees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50" b="0" i="0">
                <a:solidFill>
                  <a:srgbClr val="64748B"/>
                </a:solidFill>
              </a:rPr>
              <a:t>CONFIDENTIAL — Authorised Executives Only  |  Statistical estimates, not causal certainty  |  PDPL Compliant  |  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06B6D4"/>
                </a:solidFill>
              </a:rPr>
              <a:t>06 | COST OF INACTION — EVERY MONTH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1188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F59E0B"/>
                </a:solidFill>
              </a:rPr>
              <a:t>Every month without a board decision costs SAR 2.8M.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2834640" cy="2011680"/>
          </a:xfrm>
          <a:prstGeom prst="rect">
            <a:avLst/>
          </a:prstGeom>
          <a:solidFill>
            <a:srgbClr val="0A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28346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37160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 i="0">
                <a:solidFill>
                  <a:srgbClr val="94A3B8"/>
                </a:solidFill>
              </a:rPr>
              <a:t>Month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719072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F59E0B"/>
                </a:solidFill>
              </a:rPr>
              <a:t>SAR 2.8M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432304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64748B"/>
                </a:solidFill>
              </a:rPr>
              <a:t>accumulated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72491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1">
                <a:solidFill>
                  <a:srgbClr val="F59E0B"/>
                </a:solidFill>
              </a:rPr>
              <a:t>Decision deferred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39" y="1280160"/>
            <a:ext cx="2834640" cy="2011680"/>
          </a:xfrm>
          <a:prstGeom prst="rect">
            <a:avLst/>
          </a:prstGeom>
          <a:solidFill>
            <a:srgbClr val="1206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39" y="1280160"/>
            <a:ext cx="28346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7" y="137160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 i="0">
                <a:solidFill>
                  <a:srgbClr val="94A3B8"/>
                </a:solidFill>
              </a:rPr>
              <a:t>Month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7" y="1719072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F59E0B"/>
                </a:solidFill>
              </a:rPr>
              <a:t>SAR 8.4M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1567" y="2432304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64748B"/>
                </a:solidFill>
              </a:rPr>
              <a:t>accumulated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7" y="272491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1">
                <a:solidFill>
                  <a:srgbClr val="F59E0B"/>
                </a:solidFill>
              </a:rPr>
              <a:t>Momentum building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59" y="1280160"/>
            <a:ext cx="2834640" cy="2011680"/>
          </a:xfrm>
          <a:prstGeom prst="rect">
            <a:avLst/>
          </a:prstGeom>
          <a:solidFill>
            <a:srgbClr val="1A09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59" y="1280160"/>
            <a:ext cx="283464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7" y="137160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 i="0">
                <a:solidFill>
                  <a:srgbClr val="94A3B8"/>
                </a:solidFill>
              </a:rPr>
              <a:t>Month 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7" y="1719072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EF4444"/>
                </a:solidFill>
              </a:rPr>
              <a:t>SAR 16.9M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7" y="2432304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64748B"/>
                </a:solidFill>
              </a:rPr>
              <a:t>accumulated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7" y="272491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1">
                <a:solidFill>
                  <a:srgbClr val="F59E0B"/>
                </a:solidFill>
              </a:rPr>
              <a:t>Critical threshold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6880" y="1280160"/>
            <a:ext cx="2834640" cy="2011680"/>
          </a:xfrm>
          <a:prstGeom prst="rect">
            <a:avLst/>
          </a:prstGeom>
          <a:solidFill>
            <a:srgbClr val="220B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326880" y="1280160"/>
            <a:ext cx="283464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36608" y="137160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 i="0">
                <a:solidFill>
                  <a:srgbClr val="94A3B8"/>
                </a:solidFill>
              </a:rPr>
              <a:t>Month 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36608" y="1719072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EF4444"/>
                </a:solidFill>
              </a:rPr>
              <a:t>SAR 33.7M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432304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64748B"/>
                </a:solidFill>
              </a:rPr>
              <a:t>accumulated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36608" y="272491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1">
                <a:solidFill>
                  <a:srgbClr val="F59E0B"/>
                </a:solidFill>
              </a:rPr>
              <a:t>Full-year exposure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520440"/>
            <a:ext cx="116128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365760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 i="0">
                <a:solidFill>
                  <a:srgbClr val="06B6D4"/>
                </a:solidFill>
              </a:rPr>
              <a:t>WHAT HAPPENS IF LEADERSHIP ACTS NOW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069080"/>
            <a:ext cx="365760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416052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0B981"/>
                </a:solidFill>
              </a:rPr>
              <a:t>SAR 11.8M recovered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477316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64748B"/>
                </a:solidFill>
              </a:rPr>
              <a:t>Conservative savings estimate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06240" y="4069080"/>
            <a:ext cx="365760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400" y="416052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3B82F6"/>
                </a:solidFill>
              </a:rPr>
              <a:t>78 retained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477316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64748B"/>
                </a:solidFill>
              </a:rPr>
              <a:t>Employees retained through intervention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38160" y="4069080"/>
            <a:ext cx="365760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75320" y="416052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F59E0B"/>
                </a:solidFill>
              </a:rPr>
              <a:t>SAR 2.8M / mo stopped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477316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64748B"/>
                </a:solidFill>
              </a:rPr>
              <a:t>Monthly cost accumulation halted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486400"/>
            <a:ext cx="11612880" cy="731520"/>
          </a:xfrm>
          <a:prstGeom prst="rect">
            <a:avLst/>
          </a:prstGeom>
          <a:solidFill>
            <a:srgbClr val="1A10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557784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F59E0B"/>
                </a:solidFill>
              </a:rPr>
              <a:t>The financial case for action is unambiguous. A SAR 11.8M recovery opportunity exists. The cost of delay is SAR 2.8M per month. This slide will be more expensive next quarter.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50" b="0" i="0">
                <a:solidFill>
                  <a:srgbClr val="64748B"/>
                </a:solidFill>
              </a:rPr>
              <a:t>CONFIDENTIAL — Authorised Executives Only  |  Statistical estimates, not causal certainty  |  PDPL Compliant  |  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06B6D4"/>
                </a:solidFill>
              </a:rPr>
              <a:t>07 | HIGHEST-RISK DEPARTMENTS — FINANCIAL EXPOSURE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1188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4748B"/>
                </a:solidFill>
              </a:rPr>
              <a:t>Ranked by average risk score. Exposure = At-Risk × SAR 120,000 (SHRM conservative methodology).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914400"/>
            <a:ext cx="11841480" cy="3840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5097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3B82F6"/>
                </a:solidFill>
              </a:rPr>
              <a:t>DEPARTMENT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95097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3B82F6"/>
                </a:solidFill>
              </a:rPr>
              <a:t>HEADCOUNT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95097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3B82F6"/>
                </a:solidFill>
              </a:rPr>
              <a:t>AT-RISK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950976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3B82F6"/>
                </a:solidFill>
              </a:rPr>
              <a:t>EXPOSURE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95097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3B82F6"/>
                </a:solidFill>
              </a:rPr>
              <a:t>SAVINGS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95097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3B82F6"/>
                </a:solidFill>
              </a:rPr>
              <a:t>MONTHLY COST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1371600"/>
            <a:ext cx="1184148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" y="1371600"/>
            <a:ext cx="54864" cy="8229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62763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E2E8F0"/>
                </a:solidFill>
              </a:rPr>
              <a:t>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62763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94A3B8"/>
                </a:solidFill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162763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EF4444"/>
                </a:solidFill>
              </a:rPr>
              <a:t>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1627632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EF4444"/>
                </a:solidFill>
              </a:rPr>
              <a:t>SAR 3.4M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62763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10B981"/>
                </a:solidFill>
              </a:rPr>
              <a:t>SAR 1.2M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162763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F59E0B"/>
                </a:solidFill>
              </a:rPr>
              <a:t>SAR 280K/mo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2267712"/>
            <a:ext cx="11841480" cy="822960"/>
          </a:xfrm>
          <a:prstGeom prst="rect">
            <a:avLst/>
          </a:prstGeom>
          <a:solidFill>
            <a:srgbClr val="18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8600" y="2267712"/>
            <a:ext cx="54864" cy="8229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2523744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E2E8F0"/>
                </a:solidFill>
              </a:rPr>
              <a:t>Sales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252374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94A3B8"/>
                </a:solidFill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252374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EF4444"/>
                </a:solidFill>
              </a:rPr>
              <a:t>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2523744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EF4444"/>
                </a:solidFill>
              </a:rPr>
              <a:t>SAR 2.3M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2523744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10B981"/>
                </a:solidFill>
              </a:rPr>
              <a:t>SAR 798K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2523744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F59E0B"/>
                </a:solidFill>
              </a:rPr>
              <a:t>SAR 190K/mo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3163824"/>
            <a:ext cx="1184148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163824"/>
            <a:ext cx="54864" cy="8229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3419856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E2E8F0"/>
                </a:solidFill>
              </a:rPr>
              <a:t>Operations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3419856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94A3B8"/>
                </a:solidFill>
              </a:rP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0" y="3419856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EF4444"/>
                </a:solidFill>
              </a:rPr>
              <a:t>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3419856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EF4444"/>
                </a:solidFill>
              </a:rPr>
              <a:t>SAR 1.7M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3419856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10B981"/>
                </a:solidFill>
              </a:rPr>
              <a:t>SAR 588K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3419856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F59E0B"/>
                </a:solidFill>
              </a:rPr>
              <a:t>SAR 140K/mo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5559552"/>
            <a:ext cx="11841480" cy="658368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56875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06B6D4"/>
                </a:solidFill>
              </a:rPr>
              <a:t>TOTAL (top 5 departments)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5687568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EF4444"/>
                </a:solidFill>
              </a:rPr>
              <a:t>SAR 7.3M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0" y="568756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0B981"/>
                </a:solidFill>
              </a:rPr>
              <a:t>SAR 2.6M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50" b="0" i="0">
                <a:solidFill>
                  <a:srgbClr val="64748B"/>
                </a:solidFill>
              </a:rPr>
              <a:t>CONFIDENTIAL — Authorised Executives Only  |  Statistical estimates, not causal certainty  |  PDPL Compliant  |  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06B6D4"/>
                </a:solidFill>
              </a:rPr>
              <a:t>08 | RETENTION OPPORTUNITY — WHAT LEADERSHIP CAN RECOVER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1188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E2E8F0"/>
                </a:solidFill>
              </a:rPr>
              <a:t>Targeted intervention can recover a significant portion of the financial exposure.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4748B"/>
                </a:solidFill>
              </a:rPr>
              <a:t>Potential Recovery with Targeted Intervention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463040"/>
            <a:ext cx="8229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0B981"/>
                </a:solidFill>
              </a:rPr>
              <a:t>SAR 11.8M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45059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4748B"/>
                </a:solidFill>
              </a:rPr>
              <a:t>SAR 33.7M financial exposure  ×  35% conservative recovery rate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971800"/>
            <a:ext cx="36576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304495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10B981"/>
                </a:solidFill>
              </a:rPr>
              <a:t>RECOVERABLE SAVINGS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355848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10B981"/>
                </a:solidFill>
              </a:rPr>
              <a:t>SAR 11.8M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977639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64748B"/>
                </a:solidFill>
              </a:rPr>
              <a:t>35% of exposure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2971800"/>
            <a:ext cx="36576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304495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3B82F6"/>
                </a:solidFill>
              </a:rPr>
              <a:t>EMPLOYEES RETAINED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3355848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3B82F6"/>
                </a:solidFill>
              </a:rPr>
              <a:t>78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3977639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64748B"/>
                </a:solidFill>
              </a:rPr>
              <a:t>28% recoverable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2971800"/>
            <a:ext cx="36576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304495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F59E0B"/>
                </a:solidFill>
              </a:rPr>
              <a:t>MONTHLY COST HALTED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355848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F59E0B"/>
                </a:solidFill>
              </a:rPr>
              <a:t>SAR 2.8M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3977639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64748B"/>
                </a:solidFill>
              </a:rPr>
              <a:t>per month stopped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17220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 i="0">
                <a:solidFill>
                  <a:srgbClr val="64748B"/>
                </a:solidFill>
              </a:rPr>
              <a:t>Conservative estimates throughout. Not financial guarantees. Board approval required for investment decisions.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50" b="0" i="0">
                <a:solidFill>
                  <a:srgbClr val="64748B"/>
                </a:solidFill>
              </a:rPr>
              <a:t>CONFIDENTIAL — Authorised Executives Only  |  Statistical estimates, not causal certainty  |  PDPL Compliant  |  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06B6D4"/>
                </a:solidFill>
              </a:rPr>
              <a:t>09 | STRATEGIC PRIORITIES — BOARD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1188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4748B"/>
                </a:solidFill>
              </a:rPr>
              <a:t>Ranked by urgency and financial impact. Each priority requires board-level decision authority.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2860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64748B"/>
                </a:solidFill>
              </a:rPr>
              <a:t>Strategic priorities require decision intelligence module output.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50" b="0" i="0">
                <a:solidFill>
                  <a:srgbClr val="64748B"/>
                </a:solidFill>
              </a:rPr>
              <a:t>CONFIDENTIAL — Authorised Executives Only  |  Statistical estimates, not causal certainty  |  PDPL Compliant  |  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06B6D4"/>
                </a:solidFill>
              </a:rPr>
              <a:t>10 | BOARD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88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4ADE80"/>
                </a:solidFill>
              </a:rPr>
              <a:t>THE BOARD IS RECOMMENDED TO: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887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E2E8F0"/>
                </a:solidFill>
              </a:rPr>
              <a:t>Commission an immediate 90-day Workforce Stabilisation Programme with monthly board progress reporting.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3977639"/>
            <a:ext cx="3657600" cy="1325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3977639"/>
            <a:ext cx="365760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4069079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EF4444"/>
                </a:solidFill>
              </a:rPr>
              <a:t>FINANCIAL EXPOSURE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361687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EF4444"/>
                </a:solidFill>
              </a:rPr>
              <a:t>SAR 33.7M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937759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64748B"/>
                </a:solidFill>
              </a:rPr>
              <a:t>requiring board authorisation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3977639"/>
            <a:ext cx="3657600" cy="1325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3977639"/>
            <a:ext cx="36576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4069079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10B981"/>
                </a:solidFill>
              </a:rPr>
              <a:t>POTENTIAL RECOVERY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4361687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10B981"/>
                </a:solidFill>
              </a:rPr>
              <a:t>SAR 11.8M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4937759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64748B"/>
                </a:solidFill>
              </a:rPr>
              <a:t>with targeted intervention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3977639"/>
            <a:ext cx="3657600" cy="1325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3977639"/>
            <a:ext cx="36576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4069079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F59E0B"/>
                </a:solidFill>
              </a:rPr>
              <a:t>MONTHLY COST OF DELAY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4361687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F59E0B"/>
                </a:solidFill>
              </a:rPr>
              <a:t>SAR 2.8M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4937759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64748B"/>
                </a:solidFill>
              </a:rPr>
              <a:t>accumulating without action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486400"/>
            <a:ext cx="11612880" cy="713232"/>
          </a:xfrm>
          <a:prstGeom prst="rect">
            <a:avLst/>
          </a:prstGeom>
          <a:solidFill>
            <a:srgbClr val="06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59612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1">
                <a:solidFill>
                  <a:srgbClr val="4ADE80"/>
                </a:solidFill>
              </a:rPr>
              <a:t>Decision Required.  The workforce risk is quantified.  The financial exposure is documented.  The recommended action is clear.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50" b="0" i="0">
                <a:solidFill>
                  <a:srgbClr val="64748B"/>
                </a:solidFill>
              </a:rPr>
              <a:t>CONFIDENTIAL — Authorised Executives Only  |  Statistical estimates, not causal certainty  |  PDPL Compliant  |  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06B6D4"/>
                </a:solidFill>
              </a:rPr>
              <a:t>11 | GOVERNANCE ASSURANCE — PDPL COMPLIANCE &amp; AI CONFIDENCE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E2E8F0"/>
                </a:solidFill>
              </a:rPr>
              <a:t>Governance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10B981"/>
                </a:solidFill>
              </a:rPr>
              <a:t>✓  Saudi PDPL Article 5 — Technical Data Controls Active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344168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10B981"/>
                </a:solidFill>
              </a:rPr>
              <a:t>✓  Fully Offline — Zero External Data Transfer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728216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10B981"/>
                </a:solidFill>
              </a:rPr>
              <a:t>✓  PII Columns Excluded Before Model 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112264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10B981"/>
                </a:solidFill>
              </a:rPr>
              <a:t>✓  Proxy Leakage Prevention — Active and Tested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496312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10B981"/>
                </a:solidFill>
              </a:rPr>
              <a:t>✓  Conservative ML Metrics — No Score Inflation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880360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10B981"/>
                </a:solidFill>
              </a:rPr>
              <a:t>✓  Arabic-English Bilingual Throughout All Outputs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264408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10B981"/>
                </a:solidFill>
              </a:rPr>
              <a:t>✓  Governance Disclaimers Present on All Outputs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648456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10B981"/>
                </a:solidFill>
              </a:rPr>
              <a:t>✓  No Individual Employee Identified in Any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50292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E2E8F0"/>
                </a:solidFill>
              </a:rPr>
              <a:t>Validated ML Metrics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960120"/>
            <a:ext cx="457200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105156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4748B"/>
                </a:solidFill>
              </a:rPr>
              <a:t>ROC-AUC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10515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3B82F6"/>
                </a:solidFill>
              </a:rPr>
              <a:t>0.847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79" y="1673352"/>
            <a:ext cx="457200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176479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4748B"/>
                </a:solidFill>
              </a:rPr>
              <a:t>MCC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176479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6B6D4"/>
                </a:solidFill>
              </a:rPr>
              <a:t>0.494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79" y="2386584"/>
            <a:ext cx="457200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35240" y="247802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4748B"/>
                </a:solidFill>
              </a:rPr>
              <a:t>F1 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247802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8B5CF6"/>
                </a:solidFill>
              </a:rPr>
              <a:t>0.707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79" y="3099816"/>
            <a:ext cx="457200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35240" y="319125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4748B"/>
                </a:solidFill>
              </a:rPr>
              <a:t>Accuracy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319125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0B981"/>
                </a:solidFill>
              </a:rPr>
              <a:t>75.2%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79" y="3950208"/>
            <a:ext cx="4572000" cy="1234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35240" y="4014216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06B6D4"/>
                </a:solidFill>
              </a:rPr>
              <a:t>AI INTEGRITY STATEMENT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4288536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94A3B8"/>
                </a:solidFill>
              </a:rPr>
              <a:t>VotingEnsemble (CatBoost + RandomForest + GradientBoosting). 5-fold StratifiedKFold cross-validation. Zero proxy leakage. Conservative metrics only. All outputs are statistical associations — not causal certainty. Qualified HR review required before any employment action.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50" b="0" i="0">
                <a:solidFill>
                  <a:srgbClr val="64748B"/>
                </a:solidFill>
              </a:rPr>
              <a:t>CONFIDENTIAL — Authorised Executives Only  |  Statistical estimates, not causal certainty  |  PDPL Compliant  |  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06B6D4"/>
                </a:solidFill>
              </a:rPr>
              <a:t>12 | CLOSING EXECUTIVE MESSAGE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31520"/>
            <a:ext cx="11887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1">
                <a:solidFill>
                  <a:srgbClr val="94A3B8"/>
                </a:solidFill>
              </a:rPr>
              <a:t>“Your workforce risk is quantified.</a:t>
            </a:r>
            <a:br/>
            <a:r>
              <a:t>Your financial exposure is documented.</a:t>
            </a:r>
            <a:br/>
            <a:r>
              <a:t>Your decision window is now.”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2743200"/>
            <a:ext cx="116128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2926080"/>
            <a:ext cx="3749039" cy="1417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926080"/>
            <a:ext cx="3749039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306324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59E0B"/>
                </a:solidFill>
              </a:rPr>
              <a:t>281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85876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64748B"/>
                </a:solidFill>
              </a:rPr>
              <a:t>EMPLOYEES</a:t>
            </a:r>
            <a:br/>
            <a:r>
              <a:t>AWAITING ACTION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2926080"/>
            <a:ext cx="3749039" cy="1417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59" y="2926080"/>
            <a:ext cx="3749039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19" y="306324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EF4444"/>
                </a:solidFill>
              </a:rPr>
              <a:t>SAR 2.8M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19" y="385876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64748B"/>
                </a:solidFill>
              </a:rPr>
              <a:t>MONTHLY COST</a:t>
            </a:r>
            <a:br/>
            <a:r>
              <a:t>OF INACTION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926080"/>
            <a:ext cx="3749039" cy="1417320"/>
          </a:xfrm>
          <a:prstGeom prst="rect">
            <a:avLst/>
          </a:prstGeom>
          <a:solidFill>
            <a:srgbClr val="041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2926080"/>
            <a:ext cx="3749039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306324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0B981"/>
                </a:solidFill>
              </a:rPr>
              <a:t>SAR 11.8M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85876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64748B"/>
                </a:solidFill>
              </a:rPr>
              <a:t>POTENTIAL</a:t>
            </a:r>
            <a:br/>
            <a:r>
              <a:t>RECOVERY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572000"/>
            <a:ext cx="11612880" cy="1234440"/>
          </a:xfrm>
          <a:prstGeom prst="rect">
            <a:avLst/>
          </a:prstGeom>
          <a:solidFill>
            <a:srgbClr val="0414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4572000"/>
            <a:ext cx="54864" cy="1234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6451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 i="0">
                <a:solidFill>
                  <a:srgbClr val="4ADE80"/>
                </a:solidFill>
              </a:rPr>
              <a:t>RECOMMENDED BOARD 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93776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4ADE80"/>
                </a:solidFill>
              </a:rPr>
              <a:t>Authorise a 90-day Workforce Stabilisation Programme with monthly board progress reporting.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08076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 i="0">
                <a:solidFill>
                  <a:srgbClr val="64748B"/>
                </a:solidFill>
              </a:rPr>
              <a:t>AWI Enterprise Workforce Intelligence Platform  ·  PDPL-compliant  ·  Fully offline  ·  STRICTLY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50" b="0" i="0">
                <a:solidFill>
                  <a:srgbClr val="64748B"/>
                </a:solidFill>
              </a:rPr>
              <a:t>CONFIDENTIAL — Authorised Executives Only  |  Statistical estimates, not causal certainty  |  PDPL Compliant  |  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